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8" r:id="rId1"/>
  </p:sldMasterIdLst>
  <p:notesMasterIdLst>
    <p:notesMasterId r:id="rId17"/>
  </p:notesMasterIdLst>
  <p:sldIdLst>
    <p:sldId id="333" r:id="rId2"/>
    <p:sldId id="334" r:id="rId3"/>
    <p:sldId id="689" r:id="rId4"/>
    <p:sldId id="792" r:id="rId5"/>
    <p:sldId id="790" r:id="rId6"/>
    <p:sldId id="755" r:id="rId7"/>
    <p:sldId id="690" r:id="rId8"/>
    <p:sldId id="691" r:id="rId9"/>
    <p:sldId id="692" r:id="rId10"/>
    <p:sldId id="765" r:id="rId11"/>
    <p:sldId id="789" r:id="rId12"/>
    <p:sldId id="764" r:id="rId13"/>
    <p:sldId id="766" r:id="rId14"/>
    <p:sldId id="791" r:id="rId15"/>
    <p:sldId id="710" r:id="rId16"/>
  </p:sldIdLst>
  <p:sldSz cx="9144000" cy="6858000" type="screen4x3"/>
  <p:notesSz cx="7023100" cy="9309100"/>
  <p:defaultTextStyle>
    <a:defPPr>
      <a:defRPr lang="en-US"/>
    </a:defPPr>
    <a:lvl1pPr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2015" autoAdjust="0"/>
  </p:normalViewPr>
  <p:slideViewPr>
    <p:cSldViewPr>
      <p:cViewPr varScale="1">
        <p:scale>
          <a:sx n="102" d="100"/>
          <a:sy n="102" d="100"/>
        </p:scale>
        <p:origin x="200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39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atin typeface="Times New Roman" charset="0"/>
                <a:cs typeface="Arial" charset="0"/>
              </a:defRPr>
            </a:lvl1pPr>
          </a:lstStyle>
          <a:p>
            <a:pPr>
              <a:defRPr/>
            </a:pPr>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smtClean="0">
                <a:latin typeface="Times New Roman" charset="0"/>
                <a:cs typeface="Arial" charset="0"/>
              </a:defRPr>
            </a:lvl1pPr>
          </a:lstStyle>
          <a:p>
            <a:pPr>
              <a:defRPr/>
            </a:pPr>
            <a:fld id="{43132B69-9C71-4ECA-BDED-CC34D4C803B7}" type="datetimeFigureOut">
              <a:rPr lang="en-US"/>
              <a:pPr>
                <a:defRPr/>
              </a:pPr>
              <a:t>1/22/2026</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pPr lvl="0"/>
            <a:endParaRPr lang="en-US" noProof="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atin typeface="Times New Roman" charset="0"/>
                <a:cs typeface="Arial" charset="0"/>
              </a:defRPr>
            </a:lvl1pPr>
          </a:lstStyle>
          <a:p>
            <a:pPr>
              <a:defRPr/>
            </a:pPr>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wrap="square" lIns="93324" tIns="46662" rIns="93324" bIns="46662" numCol="1" anchor="b" anchorCtr="0" compatLnSpc="1">
            <a:prstTxWarp prst="textNoShape">
              <a:avLst/>
            </a:prstTxWarp>
          </a:bodyPr>
          <a:lstStyle>
            <a:lvl1pPr algn="r">
              <a:defRPr sz="1200"/>
            </a:lvl1pPr>
          </a:lstStyle>
          <a:p>
            <a:fld id="{B9CD0D88-AB5B-4A17-8D99-82907F637556}" type="slidenum">
              <a:rPr lang="en-US" altLang="en-US"/>
              <a:pPr/>
              <a:t>‹#›</a:t>
            </a:fld>
            <a:endParaRPr lang="en-US" altLang="en-US"/>
          </a:p>
        </p:txBody>
      </p:sp>
    </p:spTree>
    <p:extLst>
      <p:ext uri="{BB962C8B-B14F-4D97-AF65-F5344CB8AC3E}">
        <p14:creationId xmlns:p14="http://schemas.microsoft.com/office/powerpoint/2010/main" val="400914238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a:solidFill>
                  <a:srgbClr val="FF0000"/>
                </a:solidFill>
              </a:rPr>
              <a:t>Rational</a:t>
            </a:r>
            <a:r>
              <a:rPr lang="en-US" dirty="0"/>
              <a:t> </a:t>
            </a:r>
            <a:r>
              <a:rPr lang="en-US" dirty="0">
                <a:solidFill>
                  <a:srgbClr val="FF0000"/>
                </a:solidFill>
              </a:rPr>
              <a:t>Agent</a:t>
            </a:r>
            <a:r>
              <a:rPr lang="en-US" dirty="0"/>
              <a:t>: For each possible percept sequence, a rational agent should select an action that is expected to maximize its performance measure, given the evidence provided by the percept sequence and whatever built-in knowledge the agent has.</a:t>
            </a:r>
          </a:p>
        </p:txBody>
      </p:sp>
      <p:sp>
        <p:nvSpPr>
          <p:cNvPr id="4" name="Slide Number Placeholder 3"/>
          <p:cNvSpPr>
            <a:spLocks noGrp="1"/>
          </p:cNvSpPr>
          <p:nvPr>
            <p:ph type="sldNum" sz="quarter" idx="10"/>
          </p:nvPr>
        </p:nvSpPr>
        <p:spPr/>
        <p:txBody>
          <a:bodyPr/>
          <a:lstStyle/>
          <a:p>
            <a:pPr>
              <a:defRPr/>
            </a:pPr>
            <a:fld id="{0FFEBD8D-0350-4248-A0B8-4408F523809D}" type="slidenum">
              <a:rPr lang="en-US" smtClean="0"/>
              <a:pPr>
                <a:defRPr/>
              </a:pPr>
              <a:t>3</a:t>
            </a:fld>
            <a:endParaRPr lang="en-US"/>
          </a:p>
        </p:txBody>
      </p:sp>
    </p:spTree>
    <p:extLst>
      <p:ext uri="{BB962C8B-B14F-4D97-AF65-F5344CB8AC3E}">
        <p14:creationId xmlns:p14="http://schemas.microsoft.com/office/powerpoint/2010/main" val="3376416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Note: observable partially</a:t>
            </a:r>
            <a:r>
              <a:rPr lang="en-US" baseline="0" dirty="0"/>
              <a:t> observable is different from known and unknown environment. E.g., knowing the game of rules (known) but can be still partially observable (card game). Don’t know the rules (unknown) so need to learn them.</a:t>
            </a:r>
            <a:endParaRPr lang="en-US" dirty="0"/>
          </a:p>
        </p:txBody>
      </p:sp>
      <p:sp>
        <p:nvSpPr>
          <p:cNvPr id="4" name="Slide Number Placeholder 3"/>
          <p:cNvSpPr>
            <a:spLocks noGrp="1"/>
          </p:cNvSpPr>
          <p:nvPr>
            <p:ph type="sldNum" sz="quarter" idx="10"/>
          </p:nvPr>
        </p:nvSpPr>
        <p:spPr/>
        <p:txBody>
          <a:bodyPr/>
          <a:lstStyle/>
          <a:p>
            <a:pPr>
              <a:defRPr/>
            </a:pPr>
            <a:fld id="{60FA4D9F-7AC5-42F4-AC57-8FDFE9436C63}" type="slidenum">
              <a:rPr lang="en-US" smtClean="0"/>
              <a:pPr>
                <a:defRPr/>
              </a:pPr>
              <a:t>7</a:t>
            </a:fld>
            <a:endParaRPr lang="en-US"/>
          </a:p>
        </p:txBody>
      </p:sp>
    </p:spTree>
    <p:extLst>
      <p:ext uri="{BB962C8B-B14F-4D97-AF65-F5344CB8AC3E}">
        <p14:creationId xmlns:p14="http://schemas.microsoft.com/office/powerpoint/2010/main" val="2535345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Note: observable partially</a:t>
            </a:r>
            <a:r>
              <a:rPr lang="en-US" baseline="0" dirty="0"/>
              <a:t> observable is different from known and unknown environment. E.g., knowing the game of rules (known) but can be still partially observable (card game). Don’t know the rules (unknown) so need to learn them.</a:t>
            </a:r>
            <a:endParaRPr lang="en-US" dirty="0"/>
          </a:p>
        </p:txBody>
      </p:sp>
      <p:sp>
        <p:nvSpPr>
          <p:cNvPr id="4" name="Slide Number Placeholder 3"/>
          <p:cNvSpPr>
            <a:spLocks noGrp="1"/>
          </p:cNvSpPr>
          <p:nvPr>
            <p:ph type="sldNum" sz="quarter" idx="10"/>
          </p:nvPr>
        </p:nvSpPr>
        <p:spPr/>
        <p:txBody>
          <a:bodyPr/>
          <a:lstStyle/>
          <a:p>
            <a:pPr>
              <a:defRPr/>
            </a:pPr>
            <a:fld id="{60FA4D9F-7AC5-42F4-AC57-8FDFE9436C63}" type="slidenum">
              <a:rPr lang="en-US" smtClean="0"/>
              <a:pPr>
                <a:defRPr/>
              </a:pPr>
              <a:t>8</a:t>
            </a:fld>
            <a:endParaRPr lang="en-US"/>
          </a:p>
        </p:txBody>
      </p:sp>
    </p:spTree>
    <p:extLst>
      <p:ext uri="{BB962C8B-B14F-4D97-AF65-F5344CB8AC3E}">
        <p14:creationId xmlns:p14="http://schemas.microsoft.com/office/powerpoint/2010/main" val="3572341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a:t>
            </a:r>
            <a:r>
              <a:rPr lang="en-US" baseline="0" dirty="0"/>
              <a:t> who is the “agent”?</a:t>
            </a:r>
          </a:p>
          <a:p>
            <a:r>
              <a:rPr lang="en-US" baseline="0" dirty="0"/>
              <a:t>A player</a:t>
            </a:r>
            <a:endParaRPr lang="en-US" dirty="0"/>
          </a:p>
        </p:txBody>
      </p:sp>
      <p:sp>
        <p:nvSpPr>
          <p:cNvPr id="4" name="Slide Number Placeholder 3"/>
          <p:cNvSpPr>
            <a:spLocks noGrp="1"/>
          </p:cNvSpPr>
          <p:nvPr>
            <p:ph type="sldNum" sz="quarter" idx="10"/>
          </p:nvPr>
        </p:nvSpPr>
        <p:spPr/>
        <p:txBody>
          <a:bodyPr/>
          <a:lstStyle/>
          <a:p>
            <a:fld id="{B9CD0D88-AB5B-4A17-8D99-82907F637556}" type="slidenum">
              <a:rPr lang="en-US" altLang="en-US" smtClean="0"/>
              <a:pPr/>
              <a:t>9</a:t>
            </a:fld>
            <a:endParaRPr lang="en-US" altLang="en-US"/>
          </a:p>
        </p:txBody>
      </p:sp>
    </p:spTree>
    <p:extLst>
      <p:ext uri="{BB962C8B-B14F-4D97-AF65-F5344CB8AC3E}">
        <p14:creationId xmlns:p14="http://schemas.microsoft.com/office/powerpoint/2010/main" val="2119073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A969599-B8A2-42AD-9F29-B44667E0D18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255428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8E817DE-4078-426E-8023-E58F7BCC94A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4600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848DB39-9739-41D9-9A51-65F7915A600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73230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B825004-FA77-47E3-85C0-5B6542999D96}"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16062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4DE0C64-D267-4B20-BB48-C0CDB2F43CE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768949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42C0ABD-B1B2-4B74-85E6-DDA35015872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43001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DA3B81-7573-4E26-A52A-566EBCC79C8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29267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BD114D-8AF6-4C16-9D37-38B8F7A7266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293436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B8D5359-C19D-4270-B2D7-8642F5C1B16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77858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EB5FB0-247E-41F9-AD87-1041688E9A8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77839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9853D80-2348-4BF9-8718-8C6A7E1A588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879582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BAACD65-5B8C-4EFC-95A4-3CDADBE66BB0}"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D96950-646D-4C61-ACE5-9A561975C435}"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69941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CAF4E2B-2192-4B67-91D2-F4302F18905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286844909"/>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rive.google.com/drive/folders/17p6PDDSw2okQOPkLRzUFr7JQorSVIE2M?usp=shar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CPSC 481</a:t>
            </a:r>
            <a:br>
              <a:rPr lang="en-US" dirty="0"/>
            </a:br>
            <a:r>
              <a:rPr lang="en-US" dirty="0"/>
              <a:t>Artificial Intelligence</a:t>
            </a:r>
          </a:p>
        </p:txBody>
      </p:sp>
      <p:sp>
        <p:nvSpPr>
          <p:cNvPr id="3" name="Subtitle 2"/>
          <p:cNvSpPr>
            <a:spLocks noGrp="1"/>
          </p:cNvSpPr>
          <p:nvPr>
            <p:ph type="subTitle" idx="1"/>
          </p:nvPr>
        </p:nvSpPr>
        <p:spPr/>
        <p:txBody>
          <a:bodyPr/>
          <a:lstStyle/>
          <a:p>
            <a:r>
              <a:rPr lang="en-US" dirty="0"/>
              <a:t>Dr. Anand </a:t>
            </a:r>
            <a:r>
              <a:rPr lang="en-US" dirty="0" err="1"/>
              <a:t>Panangadan</a:t>
            </a:r>
            <a:endParaRPr lang="en-US" dirty="0"/>
          </a:p>
          <a:p>
            <a:r>
              <a:rPr lang="en-US" dirty="0"/>
              <a:t>apanangadan@fullerton.edu</a:t>
            </a:r>
          </a:p>
        </p:txBody>
      </p:sp>
    </p:spTree>
    <p:extLst>
      <p:ext uri="{BB962C8B-B14F-4D97-AF65-F5344CB8AC3E}">
        <p14:creationId xmlns:p14="http://schemas.microsoft.com/office/powerpoint/2010/main" val="1771176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8" name="Rectangle 8"/>
          <p:cNvSpPr>
            <a:spLocks noGrp="1" noChangeArrowheads="1"/>
          </p:cNvSpPr>
          <p:nvPr>
            <p:ph type="title"/>
          </p:nvPr>
        </p:nvSpPr>
        <p:spPr/>
        <p:txBody>
          <a:bodyPr/>
          <a:lstStyle/>
          <a:p>
            <a:pPr fontAlgn="auto">
              <a:spcAft>
                <a:spcPts val="0"/>
              </a:spcAft>
              <a:defRPr/>
            </a:pPr>
            <a:r>
              <a:rPr lang="en-US" dirty="0"/>
              <a:t>What we will cover today</a:t>
            </a:r>
          </a:p>
        </p:txBody>
      </p:sp>
      <p:sp>
        <p:nvSpPr>
          <p:cNvPr id="25609" name="Rectangle 9"/>
          <p:cNvSpPr>
            <a:spLocks noGrp="1" noChangeArrowheads="1"/>
          </p:cNvSpPr>
          <p:nvPr>
            <p:ph idx="1"/>
          </p:nvPr>
        </p:nvSpPr>
        <p:spPr/>
        <p:txBody>
          <a:bodyPr rtlCol="0">
            <a:normAutofit/>
          </a:bodyPr>
          <a:lstStyle/>
          <a:p>
            <a:pPr>
              <a:defRPr/>
            </a:pPr>
            <a:r>
              <a:rPr lang="en-US" dirty="0"/>
              <a:t>Types of environments</a:t>
            </a:r>
          </a:p>
          <a:p>
            <a:pPr lvl="1">
              <a:defRPr/>
            </a:pPr>
            <a:endParaRPr lang="en-US" dirty="0"/>
          </a:p>
          <a:p>
            <a:pPr>
              <a:defRPr/>
            </a:pPr>
            <a:endParaRPr lang="en-US" dirty="0"/>
          </a:p>
          <a:p>
            <a:pPr lvl="1">
              <a:defRPr/>
            </a:pPr>
            <a:endParaRPr lang="en-US" dirty="0"/>
          </a:p>
          <a:p>
            <a:pPr>
              <a:defRPr/>
            </a:pPr>
            <a:endParaRPr lang="en-US" dirty="0"/>
          </a:p>
        </p:txBody>
      </p:sp>
    </p:spTree>
    <p:extLst>
      <p:ext uri="{BB962C8B-B14F-4D97-AF65-F5344CB8AC3E}">
        <p14:creationId xmlns:p14="http://schemas.microsoft.com/office/powerpoint/2010/main" val="2215880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533400"/>
            <a:ext cx="7543800" cy="731838"/>
          </a:xfrm>
        </p:spPr>
        <p:txBody>
          <a:bodyPr/>
          <a:lstStyle/>
          <a:p>
            <a:r>
              <a:rPr lang="en-US" sz="3200" dirty="0"/>
              <a:t>Intelligent Agents</a:t>
            </a:r>
          </a:p>
        </p:txBody>
      </p:sp>
      <p:sp>
        <p:nvSpPr>
          <p:cNvPr id="5123" name="Rectangle 3"/>
          <p:cNvSpPr>
            <a:spLocks noGrp="1" noChangeArrowheads="1"/>
          </p:cNvSpPr>
          <p:nvPr>
            <p:ph type="body" idx="1"/>
          </p:nvPr>
        </p:nvSpPr>
        <p:spPr>
          <a:xfrm>
            <a:off x="457200" y="1524000"/>
            <a:ext cx="8229600" cy="5029200"/>
          </a:xfrm>
        </p:spPr>
        <p:txBody>
          <a:bodyPr/>
          <a:lstStyle/>
          <a:p>
            <a:pPr>
              <a:lnSpc>
                <a:spcPct val="90000"/>
              </a:lnSpc>
            </a:pPr>
            <a:r>
              <a:rPr lang="en-US" sz="2200" dirty="0"/>
              <a:t>An </a:t>
            </a:r>
            <a:r>
              <a:rPr lang="en-US" sz="2200" dirty="0">
                <a:solidFill>
                  <a:srgbClr val="C00000"/>
                </a:solidFill>
              </a:rPr>
              <a:t>agent</a:t>
            </a:r>
            <a:r>
              <a:rPr lang="en-US" sz="2200" dirty="0"/>
              <a:t> is anything that can be viewed as </a:t>
            </a:r>
            <a:r>
              <a:rPr lang="en-US" sz="2200" dirty="0">
                <a:solidFill>
                  <a:srgbClr val="C00000"/>
                </a:solidFill>
              </a:rPr>
              <a:t>perceiving</a:t>
            </a:r>
            <a:r>
              <a:rPr lang="en-US" sz="2200" dirty="0"/>
              <a:t> its </a:t>
            </a:r>
            <a:r>
              <a:rPr lang="en-US" sz="2200" dirty="0">
                <a:solidFill>
                  <a:srgbClr val="C00000"/>
                </a:solidFill>
              </a:rPr>
              <a:t>environment</a:t>
            </a:r>
            <a:r>
              <a:rPr lang="en-US" sz="2200" dirty="0"/>
              <a:t> through </a:t>
            </a:r>
            <a:r>
              <a:rPr lang="en-US" sz="2200" dirty="0">
                <a:solidFill>
                  <a:srgbClr val="C00000"/>
                </a:solidFill>
              </a:rPr>
              <a:t>sensors</a:t>
            </a:r>
            <a:r>
              <a:rPr lang="en-US" sz="2200" dirty="0"/>
              <a:t> and </a:t>
            </a:r>
            <a:r>
              <a:rPr lang="en-US" sz="2200" dirty="0">
                <a:solidFill>
                  <a:srgbClr val="C00000"/>
                </a:solidFill>
              </a:rPr>
              <a:t>acting</a:t>
            </a:r>
            <a:r>
              <a:rPr lang="en-US" sz="2200" dirty="0"/>
              <a:t> upon that environment through </a:t>
            </a:r>
            <a:r>
              <a:rPr lang="en-US" sz="2200" dirty="0">
                <a:solidFill>
                  <a:srgbClr val="C00000"/>
                </a:solidFill>
              </a:rPr>
              <a:t>actuators</a:t>
            </a:r>
          </a:p>
          <a:p>
            <a:pPr lvl="1">
              <a:lnSpc>
                <a:spcPct val="90000"/>
              </a:lnSpc>
            </a:pPr>
            <a:r>
              <a:rPr lang="en-US" sz="1700" dirty="0"/>
              <a:t>Human agent has eyes, ears, and other organs for sensors; hands, legs, mouth, and other body parts for actuators.
Robotic agent has cameras and infrared range finders for sensors; various motors for actuators.</a:t>
            </a:r>
          </a:p>
          <a:p>
            <a:r>
              <a:rPr lang="en-US" sz="2000" dirty="0"/>
              <a:t>The </a:t>
            </a:r>
            <a:r>
              <a:rPr lang="en-US" sz="2000" dirty="0">
                <a:solidFill>
                  <a:srgbClr val="C00000"/>
                </a:solidFill>
              </a:rPr>
              <a:t>agent function </a:t>
            </a:r>
            <a:r>
              <a:rPr lang="en-US" sz="2000" dirty="0"/>
              <a:t>maps from percept histories to actions:  [</a:t>
            </a:r>
            <a:r>
              <a:rPr lang="en-US" sz="2000" i="1" dirty="0"/>
              <a:t>f</a:t>
            </a:r>
            <a:r>
              <a:rPr lang="en-US" sz="2000" dirty="0"/>
              <a:t>: </a:t>
            </a:r>
            <a:r>
              <a:rPr lang="en-US" sz="2000" dirty="0">
                <a:latin typeface="Monotype Corsiva" pitchFamily="66" charset="0"/>
              </a:rPr>
              <a:t>P*</a:t>
            </a:r>
            <a:r>
              <a:rPr lang="en-US" sz="2000" dirty="0"/>
              <a:t> </a:t>
            </a:r>
            <a:r>
              <a:rPr lang="en-US" sz="2000" dirty="0">
                <a:sym typeface="Wingdings" pitchFamily="2" charset="2"/>
              </a:rPr>
              <a:t> </a:t>
            </a:r>
            <a:r>
              <a:rPr lang="en-US" sz="2000" dirty="0">
                <a:latin typeface="Monotype Corsiva" pitchFamily="66" charset="0"/>
              </a:rPr>
              <a:t>A</a:t>
            </a:r>
            <a:r>
              <a:rPr lang="en-US" sz="2000" dirty="0"/>
              <a:t>]</a:t>
            </a:r>
          </a:p>
          <a:p>
            <a:r>
              <a:rPr lang="en-US" sz="2000" dirty="0"/>
              <a:t>The </a:t>
            </a:r>
            <a:r>
              <a:rPr lang="en-US" sz="2000" dirty="0">
                <a:solidFill>
                  <a:srgbClr val="C00000"/>
                </a:solidFill>
              </a:rPr>
              <a:t>agent program </a:t>
            </a:r>
            <a:r>
              <a:rPr lang="en-US" sz="2000" dirty="0"/>
              <a:t>runs on the physical </a:t>
            </a:r>
            <a:r>
              <a:rPr lang="en-US" sz="2000" dirty="0">
                <a:solidFill>
                  <a:srgbClr val="FF0000"/>
                </a:solidFill>
              </a:rPr>
              <a:t>architecture</a:t>
            </a:r>
            <a:r>
              <a:rPr lang="en-US" sz="2000" dirty="0"/>
              <a:t> to produce </a:t>
            </a:r>
          </a:p>
          <a:p>
            <a:pPr lvl="1"/>
            <a:r>
              <a:rPr lang="en-US" sz="1800" dirty="0">
                <a:solidFill>
                  <a:srgbClr val="0070C0"/>
                </a:solidFill>
              </a:rPr>
              <a:t>agent = architecture + program </a:t>
            </a:r>
          </a:p>
          <a:p>
            <a:pPr lvl="1"/>
            <a:endParaRPr lang="en-US" sz="1000" dirty="0"/>
          </a:p>
          <a:p>
            <a:r>
              <a:rPr lang="en-US" sz="2000" dirty="0">
                <a:solidFill>
                  <a:srgbClr val="0070C0"/>
                </a:solidFill>
              </a:rPr>
              <a:t>Rational agents</a:t>
            </a:r>
            <a:r>
              <a:rPr lang="en-US" sz="2000" dirty="0"/>
              <a:t> use</a:t>
            </a:r>
          </a:p>
          <a:p>
            <a:pPr lvl="1"/>
            <a:r>
              <a:rPr lang="en-US" sz="1600" dirty="0"/>
              <a:t>performance measures </a:t>
            </a:r>
          </a:p>
          <a:p>
            <a:pPr lvl="1"/>
            <a:r>
              <a:rPr lang="en-US" sz="1600" dirty="0"/>
              <a:t>environment</a:t>
            </a:r>
          </a:p>
          <a:p>
            <a:pPr lvl="1"/>
            <a:r>
              <a:rPr lang="en-US" sz="1600" dirty="0"/>
              <a:t>actuators </a:t>
            </a:r>
          </a:p>
          <a:p>
            <a:pPr lvl="1"/>
            <a:r>
              <a:rPr lang="en-US" sz="1600" dirty="0"/>
              <a:t>sensors</a:t>
            </a:r>
          </a:p>
          <a:p>
            <a:pPr lvl="1"/>
            <a:endParaRPr lang="en-US" sz="1600" dirty="0"/>
          </a:p>
        </p:txBody>
      </p:sp>
      <p:pic>
        <p:nvPicPr>
          <p:cNvPr id="4" name="Picture 4" descr="Agent with sensors and actuators to interact with the environmen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600" y="4572000"/>
            <a:ext cx="3810000" cy="1828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9572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0EE8E5C-12FD-A308-B46B-CD882CF6BADA}"/>
              </a:ext>
            </a:extLst>
          </p:cNvPr>
          <p:cNvPicPr>
            <a:picLocks noChangeAspect="1"/>
          </p:cNvPicPr>
          <p:nvPr/>
        </p:nvPicPr>
        <p:blipFill>
          <a:blip r:embed="rId2">
            <a:extLst>
              <a:ext uri="{28A0092B-C50C-407E-A947-70E740481C1C}">
                <a14:useLocalDpi xmlns:a14="http://schemas.microsoft.com/office/drawing/2010/main" val="0"/>
              </a:ext>
            </a:extLst>
          </a:blip>
          <a:srcRect l="74290" t="57263" r="7184" b="7734"/>
          <a:stretch>
            <a:fillRect/>
          </a:stretch>
        </p:blipFill>
        <p:spPr>
          <a:xfrm>
            <a:off x="7162800" y="1676400"/>
            <a:ext cx="1295400" cy="1359017"/>
          </a:xfrm>
          <a:prstGeom prst="rect">
            <a:avLst/>
          </a:prstGeom>
        </p:spPr>
      </p:pic>
      <p:sp>
        <p:nvSpPr>
          <p:cNvPr id="2" name="Title 1">
            <a:extLst>
              <a:ext uri="{FF2B5EF4-FFF2-40B4-BE49-F238E27FC236}">
                <a16:creationId xmlns:a16="http://schemas.microsoft.com/office/drawing/2014/main" id="{B7901129-152C-40AA-820C-771D5BD1D7A8}"/>
              </a:ext>
            </a:extLst>
          </p:cNvPr>
          <p:cNvSpPr>
            <a:spLocks noGrp="1"/>
          </p:cNvSpPr>
          <p:nvPr>
            <p:ph type="title"/>
          </p:nvPr>
        </p:nvSpPr>
        <p:spPr/>
        <p:txBody>
          <a:bodyPr>
            <a:normAutofit fontScale="90000"/>
          </a:bodyPr>
          <a:lstStyle/>
          <a:p>
            <a:r>
              <a:rPr lang="en-US" dirty="0"/>
              <a:t>Self-driving car sensors and actuators</a:t>
            </a:r>
          </a:p>
        </p:txBody>
      </p:sp>
      <p:sp>
        <p:nvSpPr>
          <p:cNvPr id="3" name="Slide Number Placeholder 2">
            <a:extLst>
              <a:ext uri="{FF2B5EF4-FFF2-40B4-BE49-F238E27FC236}">
                <a16:creationId xmlns:a16="http://schemas.microsoft.com/office/drawing/2014/main" id="{2A07A09D-CAAE-FB0A-A4FF-EE7C07FC7F3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descr="Sensors on a Waymo self-driving car">
            <a:extLst>
              <a:ext uri="{FF2B5EF4-FFF2-40B4-BE49-F238E27FC236}">
                <a16:creationId xmlns:a16="http://schemas.microsoft.com/office/drawing/2014/main" id="{955483E5-957E-B6D2-4376-DAEE8DA93F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0"/>
            <a:ext cx="3588048" cy="2020071"/>
          </a:xfrm>
          <a:prstGeom prst="rect">
            <a:avLst/>
          </a:prstGeom>
        </p:spPr>
      </p:pic>
      <p:pic>
        <p:nvPicPr>
          <p:cNvPr id="6" name="Picture 5" descr="Cameras on a Tesla self-driving car">
            <a:extLst>
              <a:ext uri="{FF2B5EF4-FFF2-40B4-BE49-F238E27FC236}">
                <a16:creationId xmlns:a16="http://schemas.microsoft.com/office/drawing/2014/main" id="{FFD0F4D5-5800-0C38-9743-3F6262245D7A}"/>
              </a:ext>
            </a:extLst>
          </p:cNvPr>
          <p:cNvPicPr>
            <a:picLocks noChangeAspect="1"/>
          </p:cNvPicPr>
          <p:nvPr/>
        </p:nvPicPr>
        <p:blipFill>
          <a:blip r:embed="rId2">
            <a:extLst>
              <a:ext uri="{28A0092B-C50C-407E-A947-70E740481C1C}">
                <a14:useLocalDpi xmlns:a14="http://schemas.microsoft.com/office/drawing/2010/main" val="0"/>
              </a:ext>
            </a:extLst>
          </a:blip>
          <a:srcRect l="9770" t="22260" r="34509" b="15543"/>
          <a:stretch>
            <a:fillRect/>
          </a:stretch>
        </p:blipFill>
        <p:spPr>
          <a:xfrm>
            <a:off x="4038599" y="1523999"/>
            <a:ext cx="3259123" cy="2020071"/>
          </a:xfrm>
          <a:prstGeom prst="rect">
            <a:avLst/>
          </a:prstGeom>
        </p:spPr>
      </p:pic>
      <p:pic>
        <p:nvPicPr>
          <p:cNvPr id="8" name="Picture 7" descr="Actuators on a typical car: gas, brake, and steering wheel">
            <a:extLst>
              <a:ext uri="{FF2B5EF4-FFF2-40B4-BE49-F238E27FC236}">
                <a16:creationId xmlns:a16="http://schemas.microsoft.com/office/drawing/2014/main" id="{03F2AF0C-4E7A-7ACB-D594-E8271EFFD3AA}"/>
              </a:ext>
            </a:extLst>
          </p:cNvPr>
          <p:cNvPicPr>
            <a:picLocks noChangeAspect="1"/>
          </p:cNvPicPr>
          <p:nvPr/>
        </p:nvPicPr>
        <p:blipFill>
          <a:blip r:embed="rId4">
            <a:extLst>
              <a:ext uri="{28A0092B-C50C-407E-A947-70E740481C1C}">
                <a14:useLocalDpi xmlns:a14="http://schemas.microsoft.com/office/drawing/2010/main" val="0"/>
              </a:ext>
            </a:extLst>
          </a:blip>
          <a:srcRect l="14840" t="20392"/>
          <a:stretch>
            <a:fillRect/>
          </a:stretch>
        </p:blipFill>
        <p:spPr>
          <a:xfrm>
            <a:off x="2895600" y="4267200"/>
            <a:ext cx="3133725" cy="1637019"/>
          </a:xfrm>
          <a:prstGeom prst="rect">
            <a:avLst/>
          </a:prstGeom>
        </p:spPr>
      </p:pic>
      <p:sp>
        <p:nvSpPr>
          <p:cNvPr id="10" name="TextBox 9">
            <a:extLst>
              <a:ext uri="{FF2B5EF4-FFF2-40B4-BE49-F238E27FC236}">
                <a16:creationId xmlns:a16="http://schemas.microsoft.com/office/drawing/2014/main" id="{6CD9D071-A7BC-2074-A111-6A4AEB709F5B}"/>
              </a:ext>
            </a:extLst>
          </p:cNvPr>
          <p:cNvSpPr txBox="1"/>
          <p:nvPr/>
        </p:nvSpPr>
        <p:spPr>
          <a:xfrm>
            <a:off x="2133600" y="5884979"/>
            <a:ext cx="5334000" cy="461665"/>
          </a:xfrm>
          <a:prstGeom prst="rect">
            <a:avLst/>
          </a:prstGeom>
          <a:noFill/>
        </p:spPr>
        <p:txBody>
          <a:bodyPr wrap="square" rtlCol="0">
            <a:spAutoFit/>
          </a:bodyPr>
          <a:lstStyle/>
          <a:p>
            <a:r>
              <a:rPr lang="en-US" sz="800" dirty="0">
                <a:solidFill>
                  <a:schemeClr val="tx1">
                    <a:lumMod val="65000"/>
                    <a:lumOff val="35000"/>
                  </a:schemeClr>
                </a:solidFill>
              </a:rPr>
              <a:t>Mandujano-Granillo, Jesus &amp; Candela, Milton &amp; Ortiz-Vazquez, Juan &amp; Ramírez Moreno, Mauricio Adolfo &amp; </a:t>
            </a:r>
            <a:r>
              <a:rPr lang="en-US" sz="800" dirty="0" err="1">
                <a:solidFill>
                  <a:schemeClr val="tx1">
                    <a:lumMod val="65000"/>
                    <a:lumOff val="35000"/>
                  </a:schemeClr>
                </a:solidFill>
              </a:rPr>
              <a:t>Tudón</a:t>
            </a:r>
            <a:r>
              <a:rPr lang="en-US" sz="800" dirty="0">
                <a:solidFill>
                  <a:schemeClr val="tx1">
                    <a:lumMod val="65000"/>
                    <a:lumOff val="35000"/>
                  </a:schemeClr>
                </a:solidFill>
              </a:rPr>
              <a:t>-Martínez, Juan &amp; Félix-</a:t>
            </a:r>
            <a:r>
              <a:rPr lang="en-US" sz="800" dirty="0" err="1">
                <a:solidFill>
                  <a:schemeClr val="tx1">
                    <a:lumMod val="65000"/>
                    <a:lumOff val="35000"/>
                  </a:schemeClr>
                </a:solidFill>
              </a:rPr>
              <a:t>Herrán</a:t>
            </a:r>
            <a:r>
              <a:rPr lang="en-US" sz="800" dirty="0">
                <a:solidFill>
                  <a:schemeClr val="tx1">
                    <a:lumMod val="65000"/>
                    <a:lumOff val="35000"/>
                  </a:schemeClr>
                </a:solidFill>
              </a:rPr>
              <a:t>, Luis Carlos &amp; Galvan-Galvan, Alfredo &amp; Lozoya-Santos, Jorge. (2024). Human-Machine Interfaces: A Review for Autonomous Electric Vehicles. IEEE Access. 12. 121635–121658. 10.1109/ACCESS.2024.3450439. </a:t>
            </a:r>
          </a:p>
        </p:txBody>
      </p:sp>
    </p:spTree>
    <p:extLst>
      <p:ext uri="{BB962C8B-B14F-4D97-AF65-F5344CB8AC3E}">
        <p14:creationId xmlns:p14="http://schemas.microsoft.com/office/powerpoint/2010/main" val="3590038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369D6-1126-5470-923F-DC8D977930F7}"/>
              </a:ext>
            </a:extLst>
          </p:cNvPr>
          <p:cNvSpPr>
            <a:spLocks noGrp="1"/>
          </p:cNvSpPr>
          <p:nvPr>
            <p:ph type="title"/>
          </p:nvPr>
        </p:nvSpPr>
        <p:spPr/>
        <p:txBody>
          <a:bodyPr/>
          <a:lstStyle/>
          <a:p>
            <a:r>
              <a:rPr lang="en-US" dirty="0"/>
              <a:t>Class work</a:t>
            </a:r>
          </a:p>
        </p:txBody>
      </p:sp>
      <p:sp>
        <p:nvSpPr>
          <p:cNvPr id="3" name="Content Placeholder 2">
            <a:extLst>
              <a:ext uri="{FF2B5EF4-FFF2-40B4-BE49-F238E27FC236}">
                <a16:creationId xmlns:a16="http://schemas.microsoft.com/office/drawing/2014/main" id="{1B5CCE84-CC61-FAE3-9EB7-BC069D967E33}"/>
              </a:ext>
            </a:extLst>
          </p:cNvPr>
          <p:cNvSpPr>
            <a:spLocks noGrp="1"/>
          </p:cNvSpPr>
          <p:nvPr>
            <p:ph idx="1"/>
          </p:nvPr>
        </p:nvSpPr>
        <p:spPr/>
        <p:txBody>
          <a:bodyPr>
            <a:normAutofit lnSpcReduction="10000"/>
          </a:bodyPr>
          <a:lstStyle/>
          <a:p>
            <a:r>
              <a:rPr lang="en-US" dirty="0"/>
              <a:t>List the</a:t>
            </a:r>
          </a:p>
          <a:p>
            <a:pPr lvl="1"/>
            <a:r>
              <a:rPr lang="en-US" dirty="0"/>
              <a:t> performance measures </a:t>
            </a:r>
          </a:p>
          <a:p>
            <a:pPr lvl="1"/>
            <a:r>
              <a:rPr lang="en-US" dirty="0"/>
              <a:t>environment</a:t>
            </a:r>
          </a:p>
          <a:p>
            <a:pPr lvl="1"/>
            <a:r>
              <a:rPr lang="en-US" dirty="0"/>
              <a:t>actuators </a:t>
            </a:r>
          </a:p>
          <a:p>
            <a:pPr lvl="1"/>
            <a:r>
              <a:rPr lang="en-US" dirty="0"/>
              <a:t>sensors</a:t>
            </a:r>
          </a:p>
          <a:p>
            <a:r>
              <a:rPr lang="en-US" dirty="0"/>
              <a:t>For (each of):</a:t>
            </a:r>
          </a:p>
          <a:p>
            <a:pPr lvl="1"/>
            <a:r>
              <a:rPr lang="en-US" dirty="0"/>
              <a:t>A self-driving wheelchair</a:t>
            </a:r>
          </a:p>
          <a:p>
            <a:pPr lvl="1"/>
            <a:r>
              <a:rPr lang="en-US" dirty="0"/>
              <a:t>A robot vacuum cleaner (Roomba)</a:t>
            </a:r>
          </a:p>
          <a:p>
            <a:pPr lvl="1"/>
            <a:r>
              <a:rPr lang="en-US" dirty="0"/>
              <a:t>A robot soccer player</a:t>
            </a:r>
          </a:p>
        </p:txBody>
      </p:sp>
      <p:sp>
        <p:nvSpPr>
          <p:cNvPr id="4" name="Slide Number Placeholder 3">
            <a:extLst>
              <a:ext uri="{FF2B5EF4-FFF2-40B4-BE49-F238E27FC236}">
                <a16:creationId xmlns:a16="http://schemas.microsoft.com/office/drawing/2014/main" id="{555D095F-0893-CC19-B059-821DC21F58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Picture 5" descr="Robot wheelchair in an airport">
            <a:extLst>
              <a:ext uri="{FF2B5EF4-FFF2-40B4-BE49-F238E27FC236}">
                <a16:creationId xmlns:a16="http://schemas.microsoft.com/office/drawing/2014/main" id="{82A19A01-80A6-1DFB-6396-56B9BAE2CB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0" y="2514600"/>
            <a:ext cx="3657600" cy="1920240"/>
          </a:xfrm>
          <a:prstGeom prst="rect">
            <a:avLst/>
          </a:prstGeom>
        </p:spPr>
      </p:pic>
    </p:spTree>
    <p:extLst>
      <p:ext uri="{BB962C8B-B14F-4D97-AF65-F5344CB8AC3E}">
        <p14:creationId xmlns:p14="http://schemas.microsoft.com/office/powerpoint/2010/main" val="3500250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Classwork</a:t>
            </a:r>
          </a:p>
        </p:txBody>
      </p:sp>
      <p:sp>
        <p:nvSpPr>
          <p:cNvPr id="3" name="Content Placeholder 2"/>
          <p:cNvSpPr>
            <a:spLocks noGrp="1"/>
          </p:cNvSpPr>
          <p:nvPr>
            <p:ph idx="1"/>
          </p:nvPr>
        </p:nvSpPr>
        <p:spPr>
          <a:xfrm>
            <a:off x="468923" y="1417638"/>
            <a:ext cx="8229600" cy="4938712"/>
          </a:xfrm>
        </p:spPr>
        <p:txBody>
          <a:bodyPr>
            <a:normAutofit fontScale="85000" lnSpcReduction="20000"/>
          </a:bodyPr>
          <a:lstStyle/>
          <a:p>
            <a:r>
              <a:rPr lang="en-US" dirty="0"/>
              <a:t>On Google Drive</a:t>
            </a:r>
          </a:p>
          <a:p>
            <a:pPr lvl="1"/>
            <a:r>
              <a:rPr lang="en-US" b="1" dirty="0"/>
              <a:t>Link on Canvas</a:t>
            </a:r>
          </a:p>
          <a:p>
            <a:r>
              <a:rPr lang="en-US" dirty="0"/>
              <a:t>Go to today’s date and section</a:t>
            </a:r>
          </a:p>
          <a:p>
            <a:pPr lvl="1"/>
            <a:r>
              <a:rPr lang="en-US" dirty="0"/>
              <a:t>Editable and viewable by all</a:t>
            </a:r>
          </a:p>
          <a:p>
            <a:r>
              <a:rPr lang="en-US" dirty="0"/>
              <a:t>Create a new Google Document and name it with your groupmates’ names</a:t>
            </a:r>
          </a:p>
          <a:p>
            <a:pPr lvl="1"/>
            <a:r>
              <a:rPr lang="en-US" dirty="0"/>
              <a:t>E.g.: Garcia-Joshi-Nguyen</a:t>
            </a:r>
          </a:p>
          <a:p>
            <a:pPr lvl="1"/>
            <a:r>
              <a:rPr lang="en-US" dirty="0"/>
              <a:t>Write the names and role of group members</a:t>
            </a:r>
          </a:p>
          <a:p>
            <a:pPr lvl="1"/>
            <a:r>
              <a:rPr lang="en-US" dirty="0"/>
              <a:t>Roles: </a:t>
            </a:r>
            <a:r>
              <a:rPr lang="en-US" dirty="0">
                <a:solidFill>
                  <a:srgbClr val="FF0000"/>
                </a:solidFill>
              </a:rPr>
              <a:t>manager</a:t>
            </a:r>
            <a:r>
              <a:rPr lang="en-US" dirty="0"/>
              <a:t>, </a:t>
            </a:r>
            <a:r>
              <a:rPr lang="en-US" dirty="0" err="1">
                <a:solidFill>
                  <a:srgbClr val="0070C0"/>
                </a:solidFill>
              </a:rPr>
              <a:t>recorder+presenter</a:t>
            </a:r>
            <a:r>
              <a:rPr lang="en-US" dirty="0"/>
              <a:t>, </a:t>
            </a:r>
            <a:r>
              <a:rPr lang="en-US" dirty="0">
                <a:solidFill>
                  <a:srgbClr val="7030A0"/>
                </a:solidFill>
              </a:rPr>
              <a:t>timekeeper</a:t>
            </a:r>
          </a:p>
          <a:p>
            <a:pPr lvl="1"/>
            <a:r>
              <a:rPr lang="en-US" dirty="0"/>
              <a:t>Add your answers</a:t>
            </a:r>
          </a:p>
          <a:p>
            <a:r>
              <a:rPr lang="en-US" dirty="0"/>
              <a:t>Will not be graded but used for class participation points</a:t>
            </a:r>
          </a:p>
          <a:p>
            <a:pPr lvl="1"/>
            <a:r>
              <a:rPr lang="en-US" dirty="0"/>
              <a:t>Can easily share with rest of class</a:t>
            </a:r>
          </a:p>
          <a:p>
            <a:endParaRPr lang="en-US" dirty="0">
              <a:hlinkClick r:id="rId2"/>
            </a:endParaRPr>
          </a:p>
          <a:p>
            <a:endParaRPr lang="en-US" u="sng" dirty="0">
              <a:hlinkClick r:id="rId2"/>
            </a:endParaRPr>
          </a:p>
          <a:p>
            <a:endParaRPr lang="en-US" dirty="0"/>
          </a:p>
          <a:p>
            <a:endParaRPr lang="en-US" dirty="0"/>
          </a:p>
        </p:txBody>
      </p:sp>
    </p:spTree>
    <p:extLst>
      <p:ext uri="{BB962C8B-B14F-4D97-AF65-F5344CB8AC3E}">
        <p14:creationId xmlns:p14="http://schemas.microsoft.com/office/powerpoint/2010/main" val="3004978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7543800" cy="609600"/>
          </a:xfrm>
        </p:spPr>
        <p:txBody>
          <a:bodyPr/>
          <a:lstStyle/>
          <a:p>
            <a:r>
              <a:rPr lang="en-US" sz="3200" dirty="0"/>
              <a:t>Properties of Task Environments</a:t>
            </a:r>
          </a:p>
        </p:txBody>
      </p:sp>
      <p:sp>
        <p:nvSpPr>
          <p:cNvPr id="3" name="Content Placeholder 2"/>
          <p:cNvSpPr>
            <a:spLocks noGrp="1"/>
          </p:cNvSpPr>
          <p:nvPr>
            <p:ph idx="1"/>
          </p:nvPr>
        </p:nvSpPr>
        <p:spPr>
          <a:xfrm>
            <a:off x="228600" y="1219200"/>
            <a:ext cx="8686800" cy="5137150"/>
          </a:xfrm>
        </p:spPr>
        <p:txBody>
          <a:bodyPr>
            <a:normAutofit/>
          </a:bodyPr>
          <a:lstStyle/>
          <a:p>
            <a:r>
              <a:rPr lang="en-US" sz="2000" b="1" dirty="0"/>
              <a:t>Fully observable vs. partially observable</a:t>
            </a:r>
            <a:r>
              <a:rPr lang="en-US" sz="2000" dirty="0"/>
              <a:t>: – Fully observable if sensors detect </a:t>
            </a:r>
            <a:r>
              <a:rPr lang="en-US" sz="2000" dirty="0">
                <a:solidFill>
                  <a:srgbClr val="FF0000"/>
                </a:solidFill>
              </a:rPr>
              <a:t>all aspects of environment relevant to choice of action</a:t>
            </a:r>
            <a:endParaRPr lang="en-US" sz="2000" dirty="0"/>
          </a:p>
          <a:p>
            <a:pPr lvl="1"/>
            <a:r>
              <a:rPr lang="en-US" sz="1600" dirty="0"/>
              <a:t>Partially observable due to noisy, inaccurate or missing sensors</a:t>
            </a:r>
          </a:p>
          <a:p>
            <a:pPr lvl="1"/>
            <a:r>
              <a:rPr lang="en-US" sz="1600" dirty="0"/>
              <a:t>E.g., in card games, not possible to see what cards others are holding</a:t>
            </a:r>
          </a:p>
          <a:p>
            <a:r>
              <a:rPr lang="en-US" sz="2000" b="1" dirty="0"/>
              <a:t>Single agent vs. multiple agents: in single agent environment, no other “thinking” entity</a:t>
            </a:r>
          </a:p>
          <a:p>
            <a:pPr lvl="1"/>
            <a:r>
              <a:rPr lang="en-US" sz="1600" dirty="0"/>
              <a:t>Multiple agents: other entities whose goals depend on your own</a:t>
            </a:r>
          </a:p>
          <a:p>
            <a:pPr lvl="1"/>
            <a:r>
              <a:rPr lang="en-US" sz="1600" dirty="0">
                <a:solidFill>
                  <a:srgbClr val="FF0000"/>
                </a:solidFill>
              </a:rPr>
              <a:t>Cooperative</a:t>
            </a:r>
            <a:r>
              <a:rPr lang="en-US" sz="1600" dirty="0"/>
              <a:t>: improving other’s situation, helps your own</a:t>
            </a:r>
          </a:p>
          <a:p>
            <a:pPr lvl="1"/>
            <a:r>
              <a:rPr lang="en-US" sz="1600" dirty="0">
                <a:solidFill>
                  <a:srgbClr val="FF0000"/>
                </a:solidFill>
              </a:rPr>
              <a:t>Competitive</a:t>
            </a:r>
            <a:r>
              <a:rPr lang="en-US" sz="1600" dirty="0"/>
              <a:t>: improving other’s situation, worsens your own</a:t>
            </a:r>
            <a:endParaRPr lang="en-US" sz="1600" b="1" dirty="0"/>
          </a:p>
          <a:p>
            <a:r>
              <a:rPr lang="en-US" sz="2000" b="1" dirty="0"/>
              <a:t>Deterministic vs. stochastic</a:t>
            </a:r>
            <a:r>
              <a:rPr lang="en-US" sz="2000" dirty="0"/>
              <a:t>: Deterministic if the </a:t>
            </a:r>
            <a:r>
              <a:rPr lang="en-US" sz="2000" dirty="0">
                <a:solidFill>
                  <a:srgbClr val="FF0000"/>
                </a:solidFill>
              </a:rPr>
              <a:t>next state </a:t>
            </a:r>
            <a:r>
              <a:rPr lang="en-US" sz="2000" dirty="0"/>
              <a:t>of the environment is </a:t>
            </a:r>
            <a:r>
              <a:rPr lang="en-US" sz="2000" dirty="0">
                <a:solidFill>
                  <a:srgbClr val="FF0000"/>
                </a:solidFill>
              </a:rPr>
              <a:t>completely determined </a:t>
            </a:r>
            <a:r>
              <a:rPr lang="en-US" sz="2000" dirty="0"/>
              <a:t>by the </a:t>
            </a:r>
            <a:r>
              <a:rPr lang="en-US" sz="2000" dirty="0">
                <a:solidFill>
                  <a:srgbClr val="FF0000"/>
                </a:solidFill>
              </a:rPr>
              <a:t>current</a:t>
            </a:r>
            <a:r>
              <a:rPr lang="en-US" sz="2000" dirty="0"/>
              <a:t> state and the action executed by the agent</a:t>
            </a:r>
          </a:p>
          <a:p>
            <a:pPr lvl="1"/>
            <a:r>
              <a:rPr lang="en-US" sz="1600" dirty="0"/>
              <a:t>Stochastic if what happens is affected by randomness</a:t>
            </a:r>
          </a:p>
          <a:p>
            <a:pPr lvl="1"/>
            <a:r>
              <a:rPr lang="en-US" sz="1600" dirty="0"/>
              <a:t>E.g., roll of dice in a game</a:t>
            </a:r>
          </a:p>
        </p:txBody>
      </p:sp>
    </p:spTree>
    <p:extLst>
      <p:ext uri="{BB962C8B-B14F-4D97-AF65-F5344CB8AC3E}">
        <p14:creationId xmlns:p14="http://schemas.microsoft.com/office/powerpoint/2010/main" val="1450806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7696200" cy="609600"/>
          </a:xfrm>
        </p:spPr>
        <p:txBody>
          <a:bodyPr/>
          <a:lstStyle/>
          <a:p>
            <a:r>
              <a:rPr lang="en-US" sz="3200" dirty="0"/>
              <a:t>Properties of </a:t>
            </a:r>
            <a:r>
              <a:rPr lang="en-US" sz="3200"/>
              <a:t>Task Environments-cont.</a:t>
            </a:r>
            <a:endParaRPr lang="en-US" sz="3200" dirty="0"/>
          </a:p>
        </p:txBody>
      </p:sp>
      <p:sp>
        <p:nvSpPr>
          <p:cNvPr id="3" name="Content Placeholder 2"/>
          <p:cNvSpPr>
            <a:spLocks noGrp="1"/>
          </p:cNvSpPr>
          <p:nvPr>
            <p:ph idx="1"/>
          </p:nvPr>
        </p:nvSpPr>
        <p:spPr>
          <a:xfrm>
            <a:off x="228600" y="1406525"/>
            <a:ext cx="8229600" cy="4648200"/>
          </a:xfrm>
        </p:spPr>
        <p:txBody>
          <a:bodyPr>
            <a:normAutofit lnSpcReduction="10000"/>
          </a:bodyPr>
          <a:lstStyle/>
          <a:p>
            <a:r>
              <a:rPr lang="en-US" sz="2000" b="1" dirty="0"/>
              <a:t>Episodic vs. sequential: </a:t>
            </a:r>
            <a:r>
              <a:rPr lang="en-US" sz="2000" dirty="0"/>
              <a:t>episodic if a current action will not affect future actions - the agent’s experience is divided into </a:t>
            </a:r>
            <a:r>
              <a:rPr lang="en-US" sz="2000" dirty="0">
                <a:solidFill>
                  <a:srgbClr val="FF0000"/>
                </a:solidFill>
              </a:rPr>
              <a:t>independent episodes</a:t>
            </a:r>
            <a:r>
              <a:rPr lang="en-US" sz="2000" dirty="0"/>
              <a:t>. E.g., mail sorting system</a:t>
            </a:r>
          </a:p>
          <a:p>
            <a:pPr lvl="1"/>
            <a:r>
              <a:rPr lang="en-US" sz="1600" dirty="0"/>
              <a:t>Sequential if current decisions affect future decisions.</a:t>
            </a:r>
          </a:p>
          <a:p>
            <a:pPr lvl="1"/>
            <a:r>
              <a:rPr lang="en-US" sz="1600" dirty="0"/>
              <a:t>E.g., navigating a car is sequential, most games</a:t>
            </a:r>
          </a:p>
          <a:p>
            <a:r>
              <a:rPr lang="en-US" sz="2000" b="1" dirty="0"/>
              <a:t>Static vs. dynamic</a:t>
            </a:r>
            <a:r>
              <a:rPr lang="en-US" sz="2000" dirty="0"/>
              <a:t>: Static if the environment does not change as the agent is deciding on an action. E.g., chess</a:t>
            </a:r>
          </a:p>
          <a:p>
            <a:pPr lvl="1"/>
            <a:r>
              <a:rPr lang="en-US" sz="1600" dirty="0"/>
              <a:t>dynamic if the environment may </a:t>
            </a:r>
            <a:r>
              <a:rPr lang="en-US" sz="1600" dirty="0">
                <a:solidFill>
                  <a:srgbClr val="FF0000"/>
                </a:solidFill>
              </a:rPr>
              <a:t>change</a:t>
            </a:r>
            <a:r>
              <a:rPr lang="en-US" sz="1600" dirty="0"/>
              <a:t> while the agent is thinking</a:t>
            </a:r>
          </a:p>
          <a:p>
            <a:r>
              <a:rPr lang="en-US" sz="2000" b="1" dirty="0"/>
              <a:t>Discrete vs. continuous</a:t>
            </a:r>
            <a:r>
              <a:rPr lang="en-US" sz="2000" dirty="0"/>
              <a:t>: in discrete environments, actions/percepts can take only specific values (e.g., chess); in continuous environments, there can be infinite such values.</a:t>
            </a:r>
          </a:p>
          <a:p>
            <a:pPr lvl="1"/>
            <a:r>
              <a:rPr lang="en-US" sz="1600" dirty="0"/>
              <a:t>Signals constantly coming into sensors, actions continually changing. Car driving is continuous.</a:t>
            </a:r>
          </a:p>
          <a:p>
            <a:r>
              <a:rPr lang="en-US" sz="2000" b="1" dirty="0"/>
              <a:t>Known vs. unknown</a:t>
            </a:r>
            <a:r>
              <a:rPr lang="en-US" sz="2000" dirty="0"/>
              <a:t>: In a known environment, the </a:t>
            </a:r>
            <a:r>
              <a:rPr lang="en-US" sz="2000" dirty="0">
                <a:solidFill>
                  <a:srgbClr val="FF0000"/>
                </a:solidFill>
              </a:rPr>
              <a:t>outcomes</a:t>
            </a:r>
            <a:r>
              <a:rPr lang="en-US" sz="2000" dirty="0"/>
              <a:t> for all actions are </a:t>
            </a:r>
            <a:r>
              <a:rPr lang="en-US" sz="2000" dirty="0">
                <a:solidFill>
                  <a:srgbClr val="FF0000"/>
                </a:solidFill>
              </a:rPr>
              <a:t>given</a:t>
            </a:r>
            <a:r>
              <a:rPr lang="en-US" sz="2000" dirty="0"/>
              <a:t>, i.e., the rules of the game are known</a:t>
            </a:r>
          </a:p>
          <a:p>
            <a:pPr lvl="1"/>
            <a:r>
              <a:rPr lang="en-US" sz="1600" dirty="0"/>
              <a:t>If unknown, the agent will have to learn how it works.  </a:t>
            </a:r>
          </a:p>
          <a:p>
            <a:endParaRPr lang="en-US" sz="2000" dirty="0"/>
          </a:p>
          <a:p>
            <a:endParaRPr lang="en-US" sz="2000" dirty="0"/>
          </a:p>
        </p:txBody>
      </p:sp>
    </p:spTree>
    <p:extLst>
      <p:ext uri="{BB962C8B-B14F-4D97-AF65-F5344CB8AC3E}">
        <p14:creationId xmlns:p14="http://schemas.microsoft.com/office/powerpoint/2010/main" val="959695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Example: playing soccer</a:t>
            </a:r>
          </a:p>
        </p:txBody>
      </p:sp>
      <p:sp>
        <p:nvSpPr>
          <p:cNvPr id="3" name="Content Placeholder 2"/>
          <p:cNvSpPr>
            <a:spLocks noGrp="1"/>
          </p:cNvSpPr>
          <p:nvPr>
            <p:ph idx="1"/>
          </p:nvPr>
        </p:nvSpPr>
        <p:spPr/>
        <p:txBody>
          <a:bodyPr>
            <a:normAutofit lnSpcReduction="10000"/>
          </a:bodyPr>
          <a:lstStyle/>
          <a:p>
            <a:r>
              <a:rPr lang="en-US" sz="2000" dirty="0"/>
              <a:t>Partially observable – Player cannot detect all the things on soccer field that can affect its action, for e.g. it cannot determine what other players are thinking. </a:t>
            </a:r>
          </a:p>
          <a:p>
            <a:r>
              <a:rPr lang="en-US" sz="2000" dirty="0"/>
              <a:t>Multi-agent – There are many players in a soccer game.</a:t>
            </a:r>
          </a:p>
          <a:p>
            <a:pPr lvl="0"/>
            <a:r>
              <a:rPr lang="en-US" sz="2000" dirty="0"/>
              <a:t>Stochastic – Given the current state and action executed by agent, the  outcome cannot be exactly determined. E.g., if player kicks the ball, then the ball may or may not be stopped by other players, or the soccer field can change in many different ways depending on how players move. </a:t>
            </a:r>
          </a:p>
          <a:p>
            <a:pPr lvl="0"/>
            <a:r>
              <a:rPr lang="en-US" sz="2000" dirty="0"/>
              <a:t>Sequential – The past history of actions in the game can affect the next action in the game. </a:t>
            </a:r>
          </a:p>
          <a:p>
            <a:pPr lvl="0"/>
            <a:r>
              <a:rPr lang="en-US" sz="2000" dirty="0"/>
              <a:t>Dynamic – The environment can change while the agent is making decision, for e.g., position of other players changes when a player moves. </a:t>
            </a:r>
          </a:p>
          <a:p>
            <a:pPr lvl="0"/>
            <a:r>
              <a:rPr lang="en-US" sz="2000" dirty="0"/>
              <a:t>Continuous – Positions of the ball and players are continuous. The speed or the direction (angle) at which the player kicks the ball is continuous. </a:t>
            </a:r>
          </a:p>
          <a:p>
            <a:endParaRPr lang="en-US" sz="3200" dirty="0"/>
          </a:p>
        </p:txBody>
      </p:sp>
    </p:spTree>
    <p:extLst>
      <p:ext uri="{BB962C8B-B14F-4D97-AF65-F5344CB8AC3E}">
        <p14:creationId xmlns:p14="http://schemas.microsoft.com/office/powerpoint/2010/main" val="986077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Chutes and ladders</a:t>
            </a:r>
          </a:p>
        </p:txBody>
      </p:sp>
      <p:sp>
        <p:nvSpPr>
          <p:cNvPr id="3" name="Content Placeholder 2"/>
          <p:cNvSpPr>
            <a:spLocks noGrp="1"/>
          </p:cNvSpPr>
          <p:nvPr>
            <p:ph sz="half" idx="1"/>
          </p:nvPr>
        </p:nvSpPr>
        <p:spPr/>
        <p:txBody>
          <a:bodyPr>
            <a:normAutofit/>
          </a:bodyPr>
          <a:lstStyle/>
          <a:p>
            <a:r>
              <a:rPr lang="en-US" sz="2400" dirty="0"/>
              <a:t>Fully observable vs. partially observable?</a:t>
            </a:r>
          </a:p>
          <a:p>
            <a:r>
              <a:rPr lang="en-US" sz="2400" dirty="0"/>
              <a:t>Deterministic vs. stochastic?</a:t>
            </a:r>
          </a:p>
          <a:p>
            <a:r>
              <a:rPr lang="en-US" sz="2400" dirty="0"/>
              <a:t>Episodic vs. sequential?</a:t>
            </a:r>
          </a:p>
          <a:p>
            <a:r>
              <a:rPr lang="en-US" sz="2400" dirty="0"/>
              <a:t>Static vs. dynamic?</a:t>
            </a:r>
          </a:p>
          <a:p>
            <a:r>
              <a:rPr lang="en-US" sz="2400" dirty="0"/>
              <a:t>Discrete vs. continuous?</a:t>
            </a:r>
          </a:p>
          <a:p>
            <a:r>
              <a:rPr lang="en-US" sz="2400" dirty="0"/>
              <a:t>Known vs. unknown?</a:t>
            </a:r>
          </a:p>
          <a:p>
            <a:r>
              <a:rPr lang="en-US" sz="2400" dirty="0"/>
              <a:t>Single agent vs. multiple agents?</a:t>
            </a:r>
          </a:p>
          <a:p>
            <a:endParaRPr lang="en-US" sz="2400" dirty="0"/>
          </a:p>
        </p:txBody>
      </p:sp>
      <p:pic>
        <p:nvPicPr>
          <p:cNvPr id="7" name="Content Placeholder 6" descr="Chutes and ladders board"/>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48200" y="1843881"/>
            <a:ext cx="4038600" cy="4038600"/>
          </a:xfrm>
          <a:prstGeom prst="rect">
            <a:avLst/>
          </a:prstGeom>
        </p:spPr>
      </p:pic>
    </p:spTree>
    <p:extLst>
      <p:ext uri="{BB962C8B-B14F-4D97-AF65-F5344CB8AC3E}">
        <p14:creationId xmlns:p14="http://schemas.microsoft.com/office/powerpoint/2010/main" val="2567688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a CAPTCHA</a:t>
            </a:r>
          </a:p>
        </p:txBody>
      </p:sp>
      <p:sp>
        <p:nvSpPr>
          <p:cNvPr id="3" name="Content Placeholder 2"/>
          <p:cNvSpPr>
            <a:spLocks noGrp="1"/>
          </p:cNvSpPr>
          <p:nvPr>
            <p:ph sz="half" idx="1"/>
          </p:nvPr>
        </p:nvSpPr>
        <p:spPr/>
        <p:txBody>
          <a:bodyPr>
            <a:normAutofit/>
          </a:bodyPr>
          <a:lstStyle/>
          <a:p>
            <a:r>
              <a:rPr lang="en-US" sz="2400" dirty="0"/>
              <a:t>Fully observable vs. partially observable?</a:t>
            </a:r>
          </a:p>
          <a:p>
            <a:r>
              <a:rPr lang="en-US" sz="2400" dirty="0"/>
              <a:t>Deterministic vs. stochastic?</a:t>
            </a:r>
          </a:p>
          <a:p>
            <a:r>
              <a:rPr lang="en-US" sz="2400" dirty="0"/>
              <a:t>Episodic vs. sequential?</a:t>
            </a:r>
          </a:p>
          <a:p>
            <a:r>
              <a:rPr lang="en-US" sz="2400" dirty="0"/>
              <a:t>Static vs. dynamic?</a:t>
            </a:r>
          </a:p>
          <a:p>
            <a:r>
              <a:rPr lang="en-US" sz="2400" dirty="0"/>
              <a:t>Discrete vs. continuous?</a:t>
            </a:r>
          </a:p>
          <a:p>
            <a:r>
              <a:rPr lang="en-US" sz="2400" dirty="0"/>
              <a:t>Known vs. unknown?</a:t>
            </a:r>
          </a:p>
          <a:p>
            <a:r>
              <a:rPr lang="en-US" sz="2400" dirty="0"/>
              <a:t>Single agent vs. multiple agents?</a:t>
            </a:r>
          </a:p>
          <a:p>
            <a:endParaRPr lang="en-US" sz="2400" dirty="0"/>
          </a:p>
        </p:txBody>
      </p:sp>
      <p:pic>
        <p:nvPicPr>
          <p:cNvPr id="5" name="Content Placeholder 4" descr="4 x 4 grid CAPTCHA asking to select squares that have traffic lights" title="CAPTCHA example: a street scene"/>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150495" y="1600200"/>
            <a:ext cx="3034009" cy="4525963"/>
          </a:xfrm>
        </p:spPr>
      </p:pic>
    </p:spTree>
    <p:extLst>
      <p:ext uri="{BB962C8B-B14F-4D97-AF65-F5344CB8AC3E}">
        <p14:creationId xmlns:p14="http://schemas.microsoft.com/office/powerpoint/2010/main" val="4219242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Chess</a:t>
            </a:r>
          </a:p>
        </p:txBody>
      </p:sp>
      <p:sp>
        <p:nvSpPr>
          <p:cNvPr id="3" name="Content Placeholder 2"/>
          <p:cNvSpPr>
            <a:spLocks noGrp="1"/>
          </p:cNvSpPr>
          <p:nvPr>
            <p:ph sz="half" idx="1"/>
          </p:nvPr>
        </p:nvSpPr>
        <p:spPr/>
        <p:txBody>
          <a:bodyPr>
            <a:normAutofit fontScale="92500" lnSpcReduction="10000"/>
          </a:bodyPr>
          <a:lstStyle/>
          <a:p>
            <a:r>
              <a:rPr lang="en-US" dirty="0"/>
              <a:t>Fully observable vs. partially observable?</a:t>
            </a:r>
          </a:p>
          <a:p>
            <a:r>
              <a:rPr lang="en-US" dirty="0"/>
              <a:t>Deterministic vs. stochastic?</a:t>
            </a:r>
          </a:p>
          <a:p>
            <a:r>
              <a:rPr lang="en-US" dirty="0"/>
              <a:t>Episodic vs. sequential?</a:t>
            </a:r>
          </a:p>
          <a:p>
            <a:r>
              <a:rPr lang="en-US" dirty="0"/>
              <a:t>Static vs. dynamic?</a:t>
            </a:r>
          </a:p>
          <a:p>
            <a:r>
              <a:rPr lang="en-US" dirty="0"/>
              <a:t>Discrete vs. continuous?</a:t>
            </a:r>
          </a:p>
          <a:p>
            <a:r>
              <a:rPr lang="en-US" dirty="0"/>
              <a:t>Known vs. unknown?</a:t>
            </a:r>
          </a:p>
          <a:p>
            <a:r>
              <a:rPr lang="en-US" dirty="0"/>
              <a:t>Single agent vs. multiple agents?</a:t>
            </a:r>
          </a:p>
          <a:p>
            <a:endParaRPr lang="en-US" dirty="0"/>
          </a:p>
        </p:txBody>
      </p:sp>
      <p:pic>
        <p:nvPicPr>
          <p:cNvPr id="7" name="Content Placeholder 6" descr="Chess board"/>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648200" y="2548249"/>
            <a:ext cx="4038600" cy="2629864"/>
          </a:xfrm>
          <a:prstGeom prst="rect">
            <a:avLst/>
          </a:prstGeom>
        </p:spPr>
      </p:pic>
    </p:spTree>
    <p:extLst>
      <p:ext uri="{BB962C8B-B14F-4D97-AF65-F5344CB8AC3E}">
        <p14:creationId xmlns:p14="http://schemas.microsoft.com/office/powerpoint/2010/main" val="1170715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Driving a car</a:t>
            </a:r>
          </a:p>
        </p:txBody>
      </p:sp>
      <p:sp>
        <p:nvSpPr>
          <p:cNvPr id="3" name="Content Placeholder 2"/>
          <p:cNvSpPr>
            <a:spLocks noGrp="1"/>
          </p:cNvSpPr>
          <p:nvPr>
            <p:ph sz="half" idx="1"/>
          </p:nvPr>
        </p:nvSpPr>
        <p:spPr/>
        <p:txBody>
          <a:bodyPr>
            <a:normAutofit lnSpcReduction="10000"/>
          </a:bodyPr>
          <a:lstStyle/>
          <a:p>
            <a:r>
              <a:rPr lang="en-US" dirty="0"/>
              <a:t>Fully observable vs. partially observable?</a:t>
            </a:r>
          </a:p>
          <a:p>
            <a:r>
              <a:rPr lang="en-US" dirty="0"/>
              <a:t>Deterministic vs. stochastic?</a:t>
            </a:r>
          </a:p>
          <a:p>
            <a:r>
              <a:rPr lang="en-US" dirty="0"/>
              <a:t>Episodic vs. sequential?</a:t>
            </a:r>
          </a:p>
          <a:p>
            <a:r>
              <a:rPr lang="en-US" dirty="0"/>
              <a:t>Static vs. dynamic?</a:t>
            </a:r>
          </a:p>
          <a:p>
            <a:r>
              <a:rPr lang="en-US" dirty="0"/>
              <a:t>Discrete vs. continuous?</a:t>
            </a:r>
          </a:p>
          <a:p>
            <a:r>
              <a:rPr lang="en-US" dirty="0"/>
              <a:t>Known vs. unknown?</a:t>
            </a:r>
          </a:p>
          <a:p>
            <a:r>
              <a:rPr lang="en-US" dirty="0"/>
              <a:t>Single agent vs. multiple agents?</a:t>
            </a:r>
          </a:p>
          <a:p>
            <a:endParaRPr lang="en-US" dirty="0"/>
          </a:p>
        </p:txBody>
      </p:sp>
      <p:pic>
        <p:nvPicPr>
          <p:cNvPr id="7" name="Content Placeholder 6" descr="Driving a ca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648200" y="2702970"/>
            <a:ext cx="4038600" cy="2320423"/>
          </a:xfrm>
        </p:spPr>
      </p:pic>
    </p:spTree>
    <p:extLst>
      <p:ext uri="{BB962C8B-B14F-4D97-AF65-F5344CB8AC3E}">
        <p14:creationId xmlns:p14="http://schemas.microsoft.com/office/powerpoint/2010/main" val="167160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196D9-FD0B-F0F5-5928-55AAEB3074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702389-8178-5512-E250-99B8092DD9F6}"/>
              </a:ext>
            </a:extLst>
          </p:cNvPr>
          <p:cNvSpPr>
            <a:spLocks noGrp="1"/>
          </p:cNvSpPr>
          <p:nvPr>
            <p:ph type="title"/>
          </p:nvPr>
        </p:nvSpPr>
        <p:spPr/>
        <p:txBody>
          <a:bodyPr/>
          <a:lstStyle/>
          <a:p>
            <a:r>
              <a:rPr lang="en-US" dirty="0"/>
              <a:t>Class work</a:t>
            </a:r>
          </a:p>
        </p:txBody>
      </p:sp>
      <p:sp>
        <p:nvSpPr>
          <p:cNvPr id="3" name="Content Placeholder 2">
            <a:extLst>
              <a:ext uri="{FF2B5EF4-FFF2-40B4-BE49-F238E27FC236}">
                <a16:creationId xmlns:a16="http://schemas.microsoft.com/office/drawing/2014/main" id="{3903AF2B-9C9C-1F4E-CEFF-F77E39FB7EB2}"/>
              </a:ext>
            </a:extLst>
          </p:cNvPr>
          <p:cNvSpPr>
            <a:spLocks noGrp="1"/>
          </p:cNvSpPr>
          <p:nvPr>
            <p:ph idx="1"/>
          </p:nvPr>
        </p:nvSpPr>
        <p:spPr/>
        <p:txBody>
          <a:bodyPr>
            <a:normAutofit/>
          </a:bodyPr>
          <a:lstStyle/>
          <a:p>
            <a:r>
              <a:rPr lang="en-US" dirty="0"/>
              <a:t>List the properties for each of the previous tasks</a:t>
            </a:r>
          </a:p>
          <a:p>
            <a:pPr lvl="1"/>
            <a:r>
              <a:rPr lang="en-US" dirty="0"/>
              <a:t>Chutes and ladders</a:t>
            </a:r>
          </a:p>
          <a:p>
            <a:pPr lvl="1"/>
            <a:r>
              <a:rPr lang="en-US" dirty="0"/>
              <a:t>Passing a CAPTCHA</a:t>
            </a:r>
          </a:p>
          <a:p>
            <a:pPr lvl="1"/>
            <a:r>
              <a:rPr lang="en-US" dirty="0"/>
              <a:t>Chess</a:t>
            </a:r>
          </a:p>
          <a:p>
            <a:pPr lvl="1"/>
            <a:r>
              <a:rPr lang="en-US" dirty="0"/>
              <a:t>Driving a car</a:t>
            </a:r>
          </a:p>
        </p:txBody>
      </p:sp>
      <p:sp>
        <p:nvSpPr>
          <p:cNvPr id="4" name="Slide Number Placeholder 3">
            <a:extLst>
              <a:ext uri="{FF2B5EF4-FFF2-40B4-BE49-F238E27FC236}">
                <a16:creationId xmlns:a16="http://schemas.microsoft.com/office/drawing/2014/main" id="{C71E4B48-34C1-77AC-6500-FDF623AE39C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F33D8-5447-47F5-B4F9-489CB73D74D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1099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533400"/>
            <a:ext cx="7543800" cy="884238"/>
          </a:xfrm>
        </p:spPr>
        <p:txBody>
          <a:bodyPr/>
          <a:lstStyle/>
          <a:p>
            <a:r>
              <a:rPr lang="en-US" dirty="0"/>
              <a:t>References</a:t>
            </a:r>
          </a:p>
        </p:txBody>
      </p:sp>
      <p:sp>
        <p:nvSpPr>
          <p:cNvPr id="15363" name="Content Placeholder 2"/>
          <p:cNvSpPr>
            <a:spLocks noGrp="1"/>
          </p:cNvSpPr>
          <p:nvPr>
            <p:ph idx="1"/>
          </p:nvPr>
        </p:nvSpPr>
        <p:spPr>
          <a:xfrm>
            <a:off x="457200" y="1981200"/>
            <a:ext cx="8229600" cy="4149724"/>
          </a:xfrm>
        </p:spPr>
        <p:txBody>
          <a:bodyPr/>
          <a:lstStyle/>
          <a:p>
            <a:r>
              <a:rPr lang="en-US" sz="2000" dirty="0"/>
              <a:t>Russel and Norvig, Artificial Intelligence: A Modern Approach, 3</a:t>
            </a:r>
            <a:r>
              <a:rPr lang="en-US" sz="2000" baseline="30000" dirty="0"/>
              <a:t>rd</a:t>
            </a:r>
            <a:r>
              <a:rPr lang="en-US" sz="2000" dirty="0"/>
              <a:t> edition, Prentice Hall, 2010. </a:t>
            </a:r>
            <a:r>
              <a:rPr lang="en-US" sz="2000" b="1" dirty="0"/>
              <a:t>Chapter 3.3</a:t>
            </a:r>
          </a:p>
        </p:txBody>
      </p:sp>
    </p:spTree>
    <p:extLst>
      <p:ext uri="{BB962C8B-B14F-4D97-AF65-F5344CB8AC3E}">
        <p14:creationId xmlns:p14="http://schemas.microsoft.com/office/powerpoint/2010/main" val="299481679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1173</Words>
  <Application>Microsoft Office PowerPoint</Application>
  <PresentationFormat>On-screen Show (4:3)</PresentationFormat>
  <Paragraphs>125</Paragraphs>
  <Slides>15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Monotype Corsiva</vt:lpstr>
      <vt:lpstr>Times New Roman</vt:lpstr>
      <vt:lpstr>Wingdings</vt:lpstr>
      <vt:lpstr>1_Office Theme</vt:lpstr>
      <vt:lpstr>CPSC 481 Artificial Intelligence</vt:lpstr>
      <vt:lpstr>What we will cover today</vt:lpstr>
      <vt:lpstr>Intelligent Agents</vt:lpstr>
      <vt:lpstr>Self-driving car sensors and actuators</vt:lpstr>
      <vt:lpstr>Class work</vt:lpstr>
      <vt:lpstr>Classwork</vt:lpstr>
      <vt:lpstr>Properties of Task Environments</vt:lpstr>
      <vt:lpstr>Properties of Task Environments-cont.</vt:lpstr>
      <vt:lpstr>Example: playing soccer</vt:lpstr>
      <vt:lpstr>Chutes and ladders</vt:lpstr>
      <vt:lpstr>Passing a CAPTCHA</vt:lpstr>
      <vt:lpstr>Chess</vt:lpstr>
      <vt:lpstr>Driving a car</vt:lpstr>
      <vt:lpstr>Class work</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
  <cp:revision>1</cp:revision>
  <dcterms:created xsi:type="dcterms:W3CDTF">2012-09-13T21:52:26Z</dcterms:created>
  <dcterms:modified xsi:type="dcterms:W3CDTF">2026-01-23T04:15:58Z</dcterms:modified>
</cp:coreProperties>
</file>